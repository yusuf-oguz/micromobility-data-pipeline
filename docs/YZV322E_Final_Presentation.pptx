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E6C96-2940-46CF-CD4B-51A31A0099B7}" v="104" dt="2026-05-10T19:36:41.0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854" y="1122363"/>
            <a:ext cx="8999118" cy="2387600"/>
          </a:xfrm>
        </p:spPr>
        <p:txBody>
          <a:bodyPr anchor="b">
            <a:normAutofit/>
          </a:bodyPr>
          <a:lstStyle>
            <a:lvl1pPr algn="ctr">
              <a:defRPr sz="47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4854" y="3602038"/>
            <a:ext cx="8999118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1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6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24" y="657227"/>
            <a:ext cx="9730977" cy="2852737"/>
          </a:xfrm>
        </p:spPr>
        <p:txBody>
          <a:bodyPr anchor="b">
            <a:normAutofit/>
          </a:bodyPr>
          <a:lstStyle>
            <a:lvl1pPr>
              <a:defRPr sz="33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24" y="3602039"/>
            <a:ext cx="9730977" cy="1500187"/>
          </a:xfrm>
        </p:spPr>
        <p:txBody>
          <a:bodyPr/>
          <a:lstStyle>
            <a:lvl1pPr marL="0" indent="0" algn="ctr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26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557" y="2088320"/>
            <a:ext cx="5104674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1796" y="2088320"/>
            <a:ext cx="5092827" cy="370288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84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507" y="2088320"/>
            <a:ext cx="487792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557" y="2912232"/>
            <a:ext cx="5105878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336" y="2088320"/>
            <a:ext cx="48642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2912232"/>
            <a:ext cx="5094030" cy="287896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47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9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79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90" y="609600"/>
            <a:ext cx="3931213" cy="2362200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6742" y="609600"/>
            <a:ext cx="6187880" cy="5181600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6990" y="2971801"/>
            <a:ext cx="3931213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91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989" y="609600"/>
            <a:ext cx="5928229" cy="2362200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2871" y="758881"/>
            <a:ext cx="325450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2971800"/>
            <a:ext cx="5933404" cy="2819400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15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8" y="4289373"/>
            <a:ext cx="10364864" cy="819355"/>
          </a:xfrm>
        </p:spPr>
        <p:txBody>
          <a:bodyPr anchor="b">
            <a:normAutofit/>
          </a:bodyPr>
          <a:lstStyle>
            <a:lvl1pPr>
              <a:defRPr sz="27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568" y="621322"/>
            <a:ext cx="103648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5108728"/>
            <a:ext cx="103632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66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3424859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7" y="4204820"/>
            <a:ext cx="10351065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03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992904"/>
          </a:xfrm>
        </p:spPr>
        <p:txBody>
          <a:bodyPr anchor="ctr"/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610032"/>
            <a:ext cx="8750020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204821"/>
            <a:ext cx="10351066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394" y="73524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998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5181" y="2972093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3973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569" y="2126943"/>
            <a:ext cx="10352630" cy="2511835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556" y="4650556"/>
            <a:ext cx="10351067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50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556" y="609601"/>
            <a:ext cx="10351066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556" y="2088320"/>
            <a:ext cx="329809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556" y="2911624"/>
            <a:ext cx="329809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3720" y="2088320"/>
            <a:ext cx="329769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3721" y="2911624"/>
            <a:ext cx="3298962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222" y="2088320"/>
            <a:ext cx="3290354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3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4269" y="2911624"/>
            <a:ext cx="3290354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191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6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557" y="4195899"/>
            <a:ext cx="32980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1736" y="2298987"/>
            <a:ext cx="293928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557" y="4772161"/>
            <a:ext cx="329809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1544" y="4195899"/>
            <a:ext cx="3298124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7807" y="2298987"/>
            <a:ext cx="2929762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0191" y="4772160"/>
            <a:ext cx="3299477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1347" y="4195899"/>
            <a:ext cx="328904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19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0681" y="2298987"/>
            <a:ext cx="2931349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1222" y="4772162"/>
            <a:ext cx="3293400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68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961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609600"/>
            <a:ext cx="254199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556" y="609600"/>
            <a:ext cx="7656711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82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557" y="609601"/>
            <a:ext cx="10351065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557" y="2096064"/>
            <a:ext cx="10351066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6736" y="5883276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557" y="5883276"/>
            <a:ext cx="66711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1273" y="5883276"/>
            <a:ext cx="7533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97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126" rtl="0" eaLnBrk="1" latinLnBrk="0" hangingPunct="1">
        <a:lnSpc>
          <a:spcPct val="90000"/>
        </a:lnSpc>
        <a:spcBef>
          <a:spcPct val="0"/>
        </a:spcBef>
        <a:buNone/>
        <a:defRPr sz="3399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0E0EF"/>
                </a:solidFill>
                <a:latin typeface="Segoe UI"/>
              </a:rPr>
              <a:t>YZV 322E  ·  Applied Data Engineering  ·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IoT Scooter Fleet
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06908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206240"/>
            <a:ext cx="8229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3E0"/>
                </a:solidFill>
                <a:latin typeface="Segoe UI"/>
              </a:rPr>
              <a:t>End-to-end containerized pipeline</a:t>
            </a:r>
            <a:r>
              <a:rPr lang="tr-TR" sz="2200" b="0">
                <a:solidFill>
                  <a:srgbClr val="CAD3E0"/>
                </a:solidFill>
                <a:latin typeface="Segoe UI"/>
              </a:rPr>
              <a:t>:</a:t>
            </a:r>
            <a:r>
              <a:rPr sz="2200" b="0">
                <a:solidFill>
                  <a:srgbClr val="CAD3E0"/>
                </a:solidFill>
                <a:latin typeface="Segoe UI"/>
              </a:rPr>
              <a:t> 50 electric scooters,
real-time anomaly detection, automated batch aggregation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5778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0E0EF"/>
                </a:solidFill>
                <a:latin typeface="Segoe UI"/>
              </a:rPr>
              <a:t>Yusuf Oğuz  ·  150220322
Yusuf Öksüzer  ·  150220334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Istanbul Technical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Why does this pipeline exist?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158191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63040"/>
            <a:ext cx="7296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3E0"/>
                </a:solidFill>
                <a:latin typeface="Segoe UI"/>
              </a:rPr>
              <a:t>Scooter fleets generate thousands of telemetry events per minute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0487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7296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3E0"/>
                </a:solidFill>
                <a:latin typeface="Segoe UI"/>
              </a:rPr>
              <a:t>A toppled scooter or critical battery discovered late → accident risk + revenue loss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22783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7296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3E0"/>
                </a:solidFill>
                <a:latin typeface="Segoe UI"/>
              </a:rPr>
              <a:t>Manual inspection of log files is not scalable beyond a handful of vehicles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5079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3931920"/>
            <a:ext cx="729691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AD3E0"/>
                </a:solidFill>
                <a:latin typeface="Segoe UI"/>
              </a:rPr>
              <a:t>Nightly aggregation (trip revenue, hotspot density) needs to run reliably without human trigger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63040"/>
            <a:ext cx="3566160" cy="502920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5820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Goal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2103120"/>
            <a:ext cx="3246120" cy="777240"/>
          </a:xfrm>
          <a:prstGeom prst="rect">
            <a:avLst/>
          </a:prstGeom>
          <a:solidFill>
            <a:srgbClr val="2222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Segoe UI"/>
              </a:rPr>
              <a:t>Single command
startup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3017520"/>
            <a:ext cx="3246120" cy="777240"/>
          </a:xfrm>
          <a:prstGeom prst="rect">
            <a:avLst/>
          </a:prstGeom>
          <a:solidFill>
            <a:srgbClr val="2222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3108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Segoe UI"/>
              </a:rPr>
              <a:t>Real-time anomaly
routing &amp; alerting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3931920"/>
            <a:ext cx="3246120" cy="777240"/>
          </a:xfrm>
          <a:prstGeom prst="rect">
            <a:avLst/>
          </a:prstGeom>
          <a:solidFill>
            <a:srgbClr val="2222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0" y="4023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Segoe UI"/>
              </a:rPr>
              <a:t>Automated nightly
aggregation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4846320"/>
            <a:ext cx="3246120" cy="777240"/>
          </a:xfrm>
          <a:prstGeom prst="rect">
            <a:avLst/>
          </a:prstGeom>
          <a:solidFill>
            <a:srgbClr val="2222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Segoe UI"/>
              </a:rPr>
              <a:t>Zero host-side
dependencies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System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74552" cy="5074920"/>
          </a:xfrm>
          <a:prstGeom prst="rect">
            <a:avLst/>
          </a:prstGeom>
          <a:solidFill>
            <a:srgbClr val="1E1E30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7261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E0EF"/>
                </a:solidFill>
                <a:latin typeface="Segoe UI"/>
              </a:rPr>
              <a:t>[ ARCHITECTURE DIAGRAM  (mermaid.live export) ]</a:t>
            </a:r>
          </a:p>
        </p:txBody>
      </p:sp>
      <p:pic>
        <p:nvPicPr>
          <p:cNvPr id="9" name="Resim 8" descr="diyagram, plan, teknik çizim, şematik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0834561-EA2D-DD1E-E88C-C26F77916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47" y="1210097"/>
            <a:ext cx="11629946" cy="5392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DATA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Python Simulator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560320" cy="137160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  <a:latin typeface="Segoe UI"/>
              </a:rP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scooters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417320"/>
            <a:ext cx="2560320" cy="137160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  <a:latin typeface="Segoe UI"/>
              </a:rPr>
              <a:t>50 rec/s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17320"/>
            <a:ext cx="2560320" cy="137160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  <a:latin typeface="Segoe UI"/>
              </a:rPr>
              <a:t>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anomaly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417320"/>
            <a:ext cx="2560320" cy="137160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508760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B4D8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sinks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017520"/>
            <a:ext cx="5943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Each scooter maintains its own state: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359359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3474720"/>
            <a:ext cx="5559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GPS position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:</a:t>
            </a:r>
            <a:r>
              <a:rPr sz="1600" b="0">
                <a:solidFill>
                  <a:srgbClr val="CAD3E0"/>
                </a:solidFill>
                <a:latin typeface="Segoe UI"/>
              </a:rPr>
              <a:t> random walk within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Şişli</a:t>
            </a:r>
            <a:r>
              <a:rPr sz="1600" b="0">
                <a:solidFill>
                  <a:srgbClr val="CAD3E0"/>
                </a:solidFill>
                <a:latin typeface="Segoe UI"/>
              </a:rPr>
              <a:t>-Beşiktaş bounding box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406908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3950208"/>
            <a:ext cx="5559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Speed, battery %, odometer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:</a:t>
            </a:r>
            <a:r>
              <a:rPr sz="1600" b="0">
                <a:solidFill>
                  <a:srgbClr val="CAD3E0"/>
                </a:solidFill>
                <a:latin typeface="Segoe UI"/>
              </a:rPr>
              <a:t> physically realistic updates each tick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609193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4432" y="4522995"/>
            <a:ext cx="5559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Trip lifecycle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:</a:t>
            </a:r>
            <a:r>
              <a:rPr sz="1600" b="0">
                <a:solidFill>
                  <a:srgbClr val="CAD3E0"/>
                </a:solidFill>
                <a:latin typeface="Segoe UI"/>
              </a:rPr>
              <a:t> starts and ends trips autonomously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502005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901184"/>
            <a:ext cx="55595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Anomaly injection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:</a:t>
            </a:r>
            <a:r>
              <a:rPr sz="1600" b="0">
                <a:solidFill>
                  <a:srgbClr val="CAD3E0"/>
                </a:solidFill>
                <a:latin typeface="Segoe UI"/>
              </a:rPr>
              <a:t> topple ·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critical_battery</a:t>
            </a:r>
            <a:r>
              <a:rPr sz="1600" b="0">
                <a:solidFill>
                  <a:srgbClr val="CAD3E0"/>
                </a:solidFill>
                <a:latin typeface="Segoe UI"/>
              </a:rPr>
              <a:t> ·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gps_loss</a:t>
            </a:r>
            <a:r>
              <a:rPr sz="1600" b="0">
                <a:solidFill>
                  <a:srgbClr val="CAD3E0"/>
                </a:solidFill>
                <a:latin typeface="Segoe UI"/>
              </a:rPr>
              <a:t> ·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motor_fault</a:t>
            </a:r>
            <a:endParaRPr sz="1600" b="0">
              <a:solidFill>
                <a:srgbClr val="CAD3E0"/>
              </a:solidFill>
              <a:latin typeface="Segoe U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Two write paths: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474720"/>
            <a:ext cx="5120640" cy="685800"/>
          </a:xfrm>
          <a:prstGeom prst="rect">
            <a:avLst/>
          </a:prstGeom>
          <a:solidFill>
            <a:srgbClr val="062A1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35661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6D6A0"/>
                </a:solidFill>
                <a:latin typeface="Segoe UI"/>
              </a:rPr>
              <a:t>PostgreSQL  ←  direct INSERT via psycopg2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4251960"/>
            <a:ext cx="5120640" cy="685800"/>
          </a:xfrm>
          <a:prstGeom prst="rect">
            <a:avLst/>
          </a:prstGeom>
          <a:solidFill>
            <a:srgbClr val="1A2A3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343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0E0EF"/>
                </a:solidFill>
                <a:latin typeface="Segoe UI"/>
              </a:rPr>
              <a:t>/data/scooter_stream.jsonl  →  NiFi TailFile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0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Anomaly types: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5968730"/>
            <a:ext cx="2560320" cy="457200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601997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0F1A"/>
                </a:solidFill>
                <a:latin typeface="Segoe UI"/>
              </a:rPr>
              <a:t>topple</a:t>
            </a:r>
          </a:p>
        </p:txBody>
      </p:sp>
      <p:sp>
        <p:nvSpPr>
          <p:cNvPr id="36" name="Oval 35"/>
          <p:cNvSpPr/>
          <p:nvPr/>
        </p:nvSpPr>
        <p:spPr>
          <a:xfrm>
            <a:off x="3246120" y="5968730"/>
            <a:ext cx="2560320" cy="457200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46120" y="601997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0F1A"/>
                </a:solidFill>
                <a:latin typeface="Segoe UI"/>
              </a:rPr>
              <a:t>critical_battery</a:t>
            </a:r>
          </a:p>
        </p:txBody>
      </p:sp>
      <p:sp>
        <p:nvSpPr>
          <p:cNvPr id="38" name="Oval 37"/>
          <p:cNvSpPr/>
          <p:nvPr/>
        </p:nvSpPr>
        <p:spPr>
          <a:xfrm>
            <a:off x="6035040" y="5968730"/>
            <a:ext cx="256032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35040" y="601997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0F1A"/>
                </a:solidFill>
                <a:latin typeface="Segoe UI"/>
              </a:rPr>
              <a:t>gps_loss</a:t>
            </a:r>
          </a:p>
        </p:txBody>
      </p:sp>
      <p:sp>
        <p:nvSpPr>
          <p:cNvPr id="40" name="Oval 39"/>
          <p:cNvSpPr/>
          <p:nvPr/>
        </p:nvSpPr>
        <p:spPr>
          <a:xfrm>
            <a:off x="8823960" y="5968730"/>
            <a:ext cx="256032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23960" y="6019973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0F0F1A"/>
                </a:solidFill>
                <a:latin typeface="Segoe UI"/>
              </a:rPr>
              <a:t>motor_fault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STREAM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Apache </a:t>
            </a:r>
            <a:r>
              <a:rPr sz="3400" b="1" err="1">
                <a:solidFill>
                  <a:srgbClr val="FFFFFF"/>
                </a:solidFill>
                <a:latin typeface="Segoe UI"/>
              </a:rPr>
              <a:t>NiFi</a:t>
            </a:r>
            <a:r>
              <a:rPr sz="3400" b="1">
                <a:solidFill>
                  <a:srgbClr val="FFFFFF"/>
                </a:solidFill>
                <a:latin typeface="Segoe UI"/>
              </a:rPr>
              <a:t> </a:t>
            </a:r>
            <a:r>
              <a:rPr lang="tr-TR" sz="3400" b="1">
                <a:solidFill>
                  <a:srgbClr val="FFFFFF"/>
                </a:solidFill>
                <a:latin typeface="Segoe UI"/>
              </a:rPr>
              <a:t>&amp;</a:t>
            </a:r>
            <a:r>
              <a:rPr sz="3400" b="1">
                <a:solidFill>
                  <a:srgbClr val="FFFFFF"/>
                </a:solidFill>
                <a:latin typeface="Segoe UI"/>
              </a:rPr>
              <a:t> Real-Time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03520" cy="804672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1.  TailFile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653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Reads new lines from JSONL as they arrive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  <a:latin typeface="Segoe UI"/>
              </a:rP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5303520" cy="804672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414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2.  SplitText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980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One FlowFile per JSON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18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  <a:latin typeface="Segoe U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28416"/>
            <a:ext cx="5303520" cy="804672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74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3.  EvaluateJsonPath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30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Extracts anomaly_type &amp; fault_code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51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  <a:latin typeface="Segoe U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61104"/>
            <a:ext cx="5303520" cy="804672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3068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4.  RouteOnAttribute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anomaly_type not empty → anomaly route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8406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0E0EF"/>
                </a:solidFill>
                <a:latin typeface="Segoe UI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93792"/>
            <a:ext cx="5303520" cy="804672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2395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5.  InvokeHTTP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961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HTTP POST to Elasticsearch scooter-alerts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53328"/>
            <a:ext cx="5303520" cy="502920"/>
          </a:xfrm>
          <a:prstGeom prst="rect">
            <a:avLst/>
          </a:prstGeom>
          <a:solidFill>
            <a:srgbClr val="1A2A1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6075240"/>
            <a:ext cx="5029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6D6A0"/>
                </a:solidFill>
                <a:latin typeface="Segoe UI"/>
              </a:rPr>
              <a:t>Normal telemetry → dropped  (already in PostgreSQL via direct INSERT)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749040"/>
            <a:ext cx="580644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 dirty="0">
                <a:solidFill>
                  <a:srgbClr val="90E0EF"/>
                </a:solidFill>
                <a:latin typeface="Segoe UI"/>
              </a:rPr>
              <a:t>[ </a:t>
            </a:r>
            <a:r>
              <a:rPr sz="1800" b="0" dirty="0" err="1">
                <a:solidFill>
                  <a:srgbClr val="90E0EF"/>
                </a:solidFill>
                <a:latin typeface="Segoe UI"/>
              </a:rPr>
              <a:t>NiFi</a:t>
            </a:r>
            <a:r>
              <a:rPr sz="1800" b="0" dirty="0">
                <a:solidFill>
                  <a:srgbClr val="90E0EF"/>
                </a:solidFill>
                <a:latin typeface="Segoe UI"/>
              </a:rPr>
              <a:t> UI processor graph screenshot ]</a:t>
            </a:r>
          </a:p>
        </p:txBody>
      </p:sp>
      <p:pic>
        <p:nvPicPr>
          <p:cNvPr id="2" name="Resim 1" descr="metin, diyagram, ekran görüntüsü, çizg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5C48D820-7349-A80B-8249-7502DC47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161" y="1800556"/>
            <a:ext cx="6079571" cy="4351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Elasticsearch &amp; Kibana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713232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>
                <a:solidFill>
                  <a:srgbClr val="90E0EF"/>
                </a:solidFill>
                <a:latin typeface="Segoe UI"/>
              </a:rPr>
              <a:t>[ Kibana Dashboard  area chart + pie + map (full screenshot) ]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0" y="162763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5008" y="1508760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Index: scooter-alerts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19456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65008" y="2075688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geo_point mapping → native map support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76148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2642616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Only anomaly records ingested (NiFi routes)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32841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65008" y="3209544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8 900+ documents after ~3 min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Kibana dashboard panels: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455371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65008" y="4434840"/>
            <a:ext cx="38221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Area chart</a:t>
            </a:r>
            <a:r>
              <a:rPr lang="tr-TR" sz="1900" b="0">
                <a:solidFill>
                  <a:srgbClr val="CAD3E0"/>
                </a:solidFill>
                <a:latin typeface="Segoe UI"/>
              </a:rPr>
              <a:t>: </a:t>
            </a:r>
            <a:r>
              <a:rPr sz="1900" b="0">
                <a:solidFill>
                  <a:srgbClr val="CAD3E0"/>
                </a:solidFill>
                <a:latin typeface="Segoe UI"/>
              </a:rPr>
              <a:t>anomaly event rate over time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508406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5008" y="4965192"/>
            <a:ext cx="38221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Donut pie</a:t>
            </a:r>
            <a:r>
              <a:rPr lang="tr-TR" sz="1900" b="0">
                <a:solidFill>
                  <a:srgbClr val="CAD3E0"/>
                </a:solidFill>
                <a:latin typeface="Segoe UI"/>
              </a:rPr>
              <a:t>:</a:t>
            </a:r>
            <a:r>
              <a:rPr sz="1900" b="0">
                <a:solidFill>
                  <a:srgbClr val="CAD3E0"/>
                </a:solidFill>
                <a:latin typeface="Segoe UI"/>
              </a:rPr>
              <a:t> breakdown by anomaly type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61441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65008" y="5495544"/>
            <a:ext cx="38221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Interactive map</a:t>
            </a:r>
            <a:r>
              <a:rPr lang="tr-TR" sz="1900" b="0">
                <a:solidFill>
                  <a:srgbClr val="CAD3E0"/>
                </a:solidFill>
                <a:latin typeface="Segoe UI"/>
              </a:rPr>
              <a:t>: </a:t>
            </a:r>
            <a:r>
              <a:rPr sz="1900" b="0">
                <a:solidFill>
                  <a:srgbClr val="CAD3E0"/>
                </a:solidFill>
                <a:latin typeface="Segoe UI"/>
              </a:rPr>
              <a:t>GPS locations plotted</a:t>
            </a:r>
          </a:p>
        </p:txBody>
      </p:sp>
      <p:sp>
        <p:nvSpPr>
          <p:cNvPr id="26" name="Oval 25"/>
          <p:cNvSpPr/>
          <p:nvPr/>
        </p:nvSpPr>
        <p:spPr>
          <a:xfrm>
            <a:off x="7863840" y="614476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5008" y="6025896"/>
            <a:ext cx="3822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AD3E0"/>
                </a:solidFill>
                <a:latin typeface="Segoe UI"/>
              </a:rPr>
              <a:t>Dashboard auto-imported on first startup</a:t>
            </a:r>
          </a:p>
        </p:txBody>
      </p:sp>
      <p:pic>
        <p:nvPicPr>
          <p:cNvPr id="2" name="Resim 1" descr="metin, harita, ekran görüntüsü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BA04913-BA5B-EFDE-10E8-F6CC1B866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57" y="1211759"/>
            <a:ext cx="7027809" cy="3084064"/>
          </a:xfrm>
          <a:prstGeom prst="rect">
            <a:avLst/>
          </a:prstGeom>
        </p:spPr>
      </p:pic>
      <p:pic>
        <p:nvPicPr>
          <p:cNvPr id="28" name="Resim 27" descr="harita, atlas, metin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9938D016-0909-1642-F56F-16B49584D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68" y="4337295"/>
            <a:ext cx="5543959" cy="2305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BATCH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PostgreSQL &amp; Airflow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749808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764792"/>
            <a:ext cx="128016" cy="128016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5270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D8"/>
                </a:solidFill>
                <a:latin typeface="Segoe UI"/>
              </a:rPr>
              <a:t>public.telemetry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865376"/>
            <a:ext cx="4937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D3E0"/>
                </a:solidFill>
                <a:latin typeface="Segoe UI"/>
              </a:rPr>
              <a:t>Raw IoT records</a:t>
            </a:r>
            <a:r>
              <a:rPr lang="tr-TR" sz="1500" b="0">
                <a:solidFill>
                  <a:srgbClr val="CAD3E0"/>
                </a:solidFill>
                <a:latin typeface="Segoe UI"/>
              </a:rPr>
              <a:t>:</a:t>
            </a:r>
            <a:r>
              <a:rPr sz="1500" b="0">
                <a:solidFill>
                  <a:srgbClr val="CAD3E0"/>
                </a:solidFill>
                <a:latin typeface="Segoe UI"/>
              </a:rPr>
              <a:t> all scooters, all events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50008"/>
            <a:ext cx="5486400" cy="749808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4360" y="2651760"/>
            <a:ext cx="128016" cy="128016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140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D6A0"/>
                </a:solidFill>
                <a:latin typeface="Segoe UI"/>
              </a:rPr>
              <a:t>public.trips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7523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D3E0"/>
                </a:solidFill>
                <a:latin typeface="Segoe UI"/>
              </a:rPr>
              <a:t>Trip summaries: distance, duration, revenue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36976"/>
            <a:ext cx="5486400" cy="749808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4360" y="3538728"/>
            <a:ext cx="128016" cy="128016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3009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703"/>
                </a:solidFill>
                <a:latin typeface="Segoe UI"/>
              </a:rPr>
              <a:t>public.daily_hotspots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63931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D3E0"/>
                </a:solidFill>
                <a:latin typeface="Segoe UI"/>
              </a:rPr>
              <a:t>500 m grid ride-density per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23944"/>
            <a:ext cx="5486400" cy="749808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4425696"/>
            <a:ext cx="128016" cy="128016"/>
          </a:xfrm>
          <a:prstGeom prst="ellipse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1879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F476F"/>
                </a:solidFill>
                <a:latin typeface="Segoe UI"/>
              </a:rPr>
              <a:t>public.daily_revenue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52628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AD3E0"/>
                </a:solidFill>
                <a:latin typeface="Segoe UI"/>
              </a:rPr>
              <a:t>Fleet-wide revenue aggregates per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708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90E0EF"/>
                </a:solidFill>
                <a:latin typeface="Segoe UI"/>
              </a:rPr>
              <a:t>scooter_daily_summary DAG  ·  runs 02:00 UTC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564693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5528060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compute_trip_summaries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60858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966972"/>
            <a:ext cx="5285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err="1">
                <a:solidFill>
                  <a:srgbClr val="CAD3E0"/>
                </a:solidFill>
                <a:latin typeface="Segoe UI"/>
              </a:rPr>
              <a:t>compute_daily_hotspots</a:t>
            </a:r>
            <a:r>
              <a:rPr sz="1800" b="0">
                <a:solidFill>
                  <a:srgbClr val="CAD3E0"/>
                </a:solidFill>
                <a:latin typeface="Segoe UI"/>
              </a:rPr>
              <a:t>  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652475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6405884"/>
            <a:ext cx="5285232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 dirty="0" err="1">
                <a:solidFill>
                  <a:srgbClr val="CAD3E0"/>
                </a:solidFill>
                <a:latin typeface="Segoe UI"/>
              </a:rPr>
              <a:t>compute_daily_revenue</a:t>
            </a:r>
            <a:r>
              <a:rPr sz="1800" b="0" dirty="0">
                <a:solidFill>
                  <a:srgbClr val="CAD3E0"/>
                </a:solidFill>
                <a:latin typeface="Segoe UI"/>
              </a:rPr>
              <a:t>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788920"/>
            <a:ext cx="562356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>
                <a:solidFill>
                  <a:srgbClr val="90E0EF"/>
                </a:solidFill>
                <a:latin typeface="Segoe UI"/>
              </a:rPr>
              <a:t>[ Airflow DAG Graph View screenshot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94960"/>
            <a:ext cx="562356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800" b="0" dirty="0">
                <a:solidFill>
                  <a:srgbClr val="90E0EF"/>
                </a:solidFill>
                <a:latin typeface="Segoe UI"/>
              </a:rPr>
              <a:t>[ </a:t>
            </a:r>
            <a:r>
              <a:rPr sz="1800" b="0" dirty="0" err="1">
                <a:solidFill>
                  <a:srgbClr val="90E0EF"/>
                </a:solidFill>
                <a:latin typeface="Segoe UI"/>
              </a:rPr>
              <a:t>pgAdmin</a:t>
            </a:r>
            <a:r>
              <a:rPr sz="1800" b="0" dirty="0">
                <a:solidFill>
                  <a:srgbClr val="90E0EF"/>
                </a:solidFill>
                <a:latin typeface="Segoe UI"/>
              </a:rPr>
              <a:t>  telemetry table with anomaly rows ]</a:t>
            </a:r>
          </a:p>
        </p:txBody>
      </p:sp>
      <p:pic>
        <p:nvPicPr>
          <p:cNvPr id="2" name="Resim 1" descr="metin, ekran görüntüsü, dikdörtgen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06C103CC-5025-5D38-D0DA-805E249D8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697" y="1426415"/>
            <a:ext cx="6002585" cy="2239921"/>
          </a:xfrm>
          <a:prstGeom prst="rect">
            <a:avLst/>
          </a:prstGeom>
        </p:spPr>
      </p:pic>
      <p:pic>
        <p:nvPicPr>
          <p:cNvPr id="34" name="Resim 33" descr="metin, ekran görüntüsü, sayı, numara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4B526E7F-F6BA-63E2-301E-FE3FE44F6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400" y="3927793"/>
            <a:ext cx="6007182" cy="2374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Why these tools?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54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  <a:latin typeface="Segoe UI"/>
              </a:rPr>
              <a:t>NiFi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938528"/>
            <a:ext cx="5394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Low-code dataflow with a REST API that lets us automate the entire pipeline setup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.</a:t>
            </a:r>
            <a:r>
              <a:rPr sz="1600" b="0">
                <a:solidFill>
                  <a:srgbClr val="CAD3E0"/>
                </a:solidFill>
                <a:latin typeface="Segoe UI"/>
              </a:rPr>
              <a:t> 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(</a:t>
            </a:r>
            <a:r>
              <a:rPr sz="1600" b="0">
                <a:solidFill>
                  <a:srgbClr val="CAD3E0"/>
                </a:solidFill>
                <a:latin typeface="Segoe UI"/>
              </a:rPr>
              <a:t>no manual UI clicks after clone.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)</a:t>
            </a:r>
            <a:endParaRPr sz="1600" b="0">
              <a:solidFill>
                <a:srgbClr val="CAD3E0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999232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703"/>
                </a:solidFill>
                <a:latin typeface="Segoe UI"/>
              </a:rPr>
              <a:t>Elasticsearch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4747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Native geo_point support and sub-second full-text search makes it the right fit for anomaly storage and map queries.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35424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4626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D6A0"/>
                </a:solidFill>
                <a:latin typeface="Segoe UI"/>
              </a:rPr>
              <a:t>Kibana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01091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Tight ES integration means geo maps, time-series, and pie charts share one index pattern with zero ETL glue.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463040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15544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F476F"/>
                </a:solidFill>
                <a:latin typeface="Segoe UI"/>
              </a:rPr>
              <a:t>Airflow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1938528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DAG dependency graph cleanly models the compute_trips → hotspots/revenue fan-out, with built-in retry and scheduling.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99232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9672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0E0EF"/>
                </a:solidFill>
                <a:latin typeface="Segoe UI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474720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ACID guarantees for raw telemetry; the aggregation tables are foreign-key–linked and queryable by any SQL tool.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535424"/>
            <a:ext cx="5669280" cy="141732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9672" y="46268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AD3E0"/>
                </a:solidFill>
                <a:latin typeface="Segoe UI"/>
              </a:rPr>
              <a:t>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5010912"/>
            <a:ext cx="5394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Eleven services, one command. Health-check–based depends_on ensures startup order without sleep hacks.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What actually ran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697480" cy="201168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0B4D8"/>
                </a:solidFill>
                <a:latin typeface="Segoe UI"/>
              </a:rPr>
              <a:t>194 K+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telemetry rows
in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2697480" cy="201168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B703"/>
                </a:solidFill>
                <a:latin typeface="Segoe UI"/>
              </a:rPr>
              <a:t>8 900+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871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anomaly docs
in Elasticsearch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697480" cy="201168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06D6A0"/>
                </a:solidFill>
                <a:latin typeface="Segoe UI"/>
              </a:rP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4871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containers
all healthy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463040"/>
            <a:ext cx="2697480" cy="2011680"/>
          </a:xfrm>
          <a:prstGeom prst="rect">
            <a:avLst/>
          </a:prstGeom>
          <a:solidFill>
            <a:srgbClr val="1A1A2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60020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90E0EF"/>
                </a:solidFill>
                <a:latin typeface="Segoe UI"/>
              </a:rPr>
              <a:t>1 cmd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487168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CAD3E0"/>
                </a:solidFill>
                <a:latin typeface="Segoe UI"/>
              </a:rPr>
              <a:t>docker compose
up --build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46320"/>
            <a:ext cx="11274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0E0EF"/>
                </a:solidFill>
                <a:latin typeface="Segoe UI"/>
              </a:rPr>
              <a:t>[ docker </a:t>
            </a:r>
            <a:r>
              <a:rPr sz="1800" b="0" err="1">
                <a:solidFill>
                  <a:srgbClr val="90E0EF"/>
                </a:solidFill>
                <a:latin typeface="Segoe UI"/>
              </a:rPr>
              <a:t>ps</a:t>
            </a:r>
            <a:r>
              <a:rPr sz="1800" b="0">
                <a:solidFill>
                  <a:srgbClr val="90E0EF"/>
                </a:solidFill>
                <a:latin typeface="Segoe UI"/>
              </a:rPr>
              <a:t> </a:t>
            </a:r>
            <a:r>
              <a:rPr lang="tr-TR" sz="1800" b="0">
                <a:solidFill>
                  <a:srgbClr val="90E0EF"/>
                </a:solidFill>
                <a:latin typeface="Segoe UI"/>
              </a:rPr>
              <a:t>  </a:t>
            </a:r>
            <a:r>
              <a:rPr sz="1800" b="0">
                <a:solidFill>
                  <a:srgbClr val="90E0EF"/>
                </a:solidFill>
                <a:latin typeface="Segoe UI"/>
              </a:rPr>
              <a:t> all containers HEALTHY  (terminal screenshot) ]</a:t>
            </a:r>
          </a:p>
        </p:txBody>
      </p:sp>
      <p:pic>
        <p:nvPicPr>
          <p:cNvPr id="2" name="Resim 1" descr="metin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46F8923-BC99-FFF1-53ED-678A23D25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61" y="3831438"/>
            <a:ext cx="11423199" cy="21695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LIMITATIONS 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What we know is missing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solidFill>
            <a:srgbClr val="1A1414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527048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76F"/>
                </a:solidFill>
                <a:latin typeface="Segoe UI"/>
              </a:rPr>
              <a:t>No TLS between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65376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All inter-container traffic is plain HTTP on the internal bridge network. Fine for dev, not for prod.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70048"/>
            <a:ext cx="7315200" cy="1097280"/>
          </a:xfrm>
          <a:prstGeom prst="rect">
            <a:avLst/>
          </a:prstGeom>
          <a:solidFill>
            <a:srgbClr val="1A1414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734056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76F"/>
                </a:solidFill>
                <a:latin typeface="Segoe UI"/>
              </a:rPr>
              <a:t>Single-threaded simulator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072384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Scales to ~50 scooters comfortably; beyond that, async I/O or multiprocessing would be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77056"/>
            <a:ext cx="7315200" cy="1097280"/>
          </a:xfrm>
          <a:prstGeom prst="rect">
            <a:avLst/>
          </a:prstGeom>
          <a:solidFill>
            <a:srgbClr val="1A1414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3941064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76F"/>
                </a:solidFill>
                <a:latin typeface="Segoe UI"/>
              </a:rPr>
              <a:t>Airflow tables empty on first boot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279392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3E0"/>
                </a:solidFill>
                <a:latin typeface="Segoe UI"/>
              </a:rPr>
              <a:t>The DAG runs at 02:00 UTC</a:t>
            </a:r>
            <a:r>
              <a:rPr lang="tr-TR" sz="1600" b="0">
                <a:solidFill>
                  <a:srgbClr val="CAD3E0"/>
                </a:solidFill>
                <a:latin typeface="Segoe UI"/>
              </a:rPr>
              <a:t>.</a:t>
            </a:r>
            <a:r>
              <a:rPr sz="1600" b="0">
                <a:solidFill>
                  <a:srgbClr val="CAD3E0"/>
                </a:solidFill>
                <a:latin typeface="Segoe UI"/>
              </a:rPr>
              <a:t> </a:t>
            </a:r>
            <a:r>
              <a:rPr lang="tr-TR" sz="1600">
                <a:solidFill>
                  <a:srgbClr val="CAD3E0"/>
                </a:solidFill>
                <a:latin typeface="Segoe UI"/>
              </a:rPr>
              <a:t>A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ggregation</a:t>
            </a:r>
            <a:r>
              <a:rPr sz="1600" b="0">
                <a:solidFill>
                  <a:srgbClr val="CAD3E0"/>
                </a:solidFill>
                <a:latin typeface="Segoe UI"/>
              </a:rPr>
              <a:t> tables are empty until the first scheduled (or manual) trigger.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84064"/>
            <a:ext cx="7315200" cy="1097280"/>
          </a:xfrm>
          <a:prstGeom prst="rect">
            <a:avLst/>
          </a:prstGeom>
          <a:solidFill>
            <a:srgbClr val="1A1414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51480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476F"/>
                </a:solidFill>
                <a:latin typeface="Segoe UI"/>
              </a:rPr>
              <a:t>JSONL rotation edge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48640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err="1">
                <a:solidFill>
                  <a:srgbClr val="CAD3E0"/>
                </a:solidFill>
                <a:latin typeface="Segoe UI"/>
              </a:rPr>
              <a:t>NiFi</a:t>
            </a:r>
            <a:r>
              <a:rPr sz="1600" b="0">
                <a:solidFill>
                  <a:srgbClr val="CAD3E0"/>
                </a:solidFill>
                <a:latin typeface="Segoe UI"/>
              </a:rPr>
              <a:t>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TailFile</a:t>
            </a:r>
            <a:r>
              <a:rPr sz="1600" b="0">
                <a:solidFill>
                  <a:srgbClr val="CAD3E0"/>
                </a:solidFill>
                <a:latin typeface="Segoe UI"/>
              </a:rPr>
              <a:t> tracks byte offset; log rotation can cause a brief gap until </a:t>
            </a:r>
            <a:r>
              <a:rPr sz="1600" b="0" err="1">
                <a:solidFill>
                  <a:srgbClr val="CAD3E0"/>
                </a:solidFill>
                <a:latin typeface="Segoe UI"/>
              </a:rPr>
              <a:t>NiFi</a:t>
            </a:r>
            <a:r>
              <a:rPr sz="1600" b="0">
                <a:solidFill>
                  <a:srgbClr val="CAD3E0"/>
                </a:solidFill>
                <a:latin typeface="Segoe UI"/>
              </a:rPr>
              <a:t> picks up the new file path.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4630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Future directions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566160" cy="1005840"/>
          </a:xfrm>
          <a:prstGeom prst="rect">
            <a:avLst/>
          </a:prstGeom>
          <a:solidFill>
            <a:srgbClr val="0A1A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029968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  <a:latin typeface="Segoe UI"/>
              </a:rPr>
              <a:t>Replace NiFi with Apache Flink for
stateful stream processing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035808"/>
            <a:ext cx="3566160" cy="1005840"/>
          </a:xfrm>
          <a:prstGeom prst="rect">
            <a:avLst/>
          </a:prstGeom>
          <a:solidFill>
            <a:srgbClr val="0A1A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145536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  <a:latin typeface="Segoe UI"/>
              </a:rPr>
              <a:t>Add Prometheus + Grafana for
container health monitoring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4151376"/>
            <a:ext cx="3566160" cy="1005840"/>
          </a:xfrm>
          <a:prstGeom prst="rect">
            <a:avLst/>
          </a:prstGeom>
          <a:solidFill>
            <a:srgbClr val="0A1A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4261104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  <a:latin typeface="Segoe UI"/>
              </a:rPr>
              <a:t>TLS everywhere + Vault for
secret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266944"/>
            <a:ext cx="3566160" cy="1005840"/>
          </a:xfrm>
          <a:prstGeom prst="rect">
            <a:avLst/>
          </a:prstGeom>
          <a:solidFill>
            <a:srgbClr val="0A1A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5376672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  <a:latin typeface="Segoe UI"/>
              </a:rPr>
              <a:t>Scale to 500+ scooters with
async simulator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201168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19202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0F1A"/>
                </a:solidFill>
                <a:latin typeface="Segoe UI"/>
              </a:rPr>
              <a:t>AI USAGE DECLARATION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Use of AI Tools </a:t>
            </a:r>
            <a:r>
              <a:rPr lang="tr-TR" sz="3400" b="1">
                <a:solidFill>
                  <a:srgbClr val="FFFFFF"/>
                </a:solidFill>
                <a:latin typeface="Segoe UI"/>
              </a:rPr>
              <a:t>&amp;</a:t>
            </a:r>
            <a:r>
              <a:rPr sz="3400" b="1">
                <a:solidFill>
                  <a:srgbClr val="FFFFFF"/>
                </a:solidFill>
                <a:latin typeface="Segoe UI"/>
              </a:rPr>
              <a:t> Transparency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74552" cy="2103120"/>
          </a:xfrm>
          <a:prstGeom prst="rect">
            <a:avLst/>
          </a:prstGeom>
          <a:solidFill>
            <a:srgbClr val="0A1E2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  <a:latin typeface="Segoe UI"/>
              </a:rPr>
              <a:t>What AI was used for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30552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011680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Docker Compose configuration and inter-service networking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237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404872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NiFi REST API scripting and processor property debugging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16936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2798064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Elasticsearch index mapping (</a:t>
            </a:r>
            <a:r>
              <a:rPr sz="1800" b="0" err="1">
                <a:solidFill>
                  <a:srgbClr val="CAD3E0"/>
                </a:solidFill>
                <a:latin typeface="Segoe UI"/>
              </a:rPr>
              <a:t>geo_point</a:t>
            </a:r>
            <a:r>
              <a:rPr sz="1800" b="0">
                <a:solidFill>
                  <a:srgbClr val="CAD3E0"/>
                </a:solidFill>
                <a:latin typeface="Segoe UI"/>
              </a:rPr>
              <a:t>) and Kibana saved-object format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1012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191256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Python simulator logic</a:t>
            </a:r>
            <a:r>
              <a:rPr lang="tr-TR" sz="1800" b="0">
                <a:solidFill>
                  <a:srgbClr val="CAD3E0"/>
                </a:solidFill>
                <a:latin typeface="Segoe UI"/>
              </a:rPr>
              <a:t>:</a:t>
            </a:r>
            <a:r>
              <a:rPr sz="1800" b="0">
                <a:solidFill>
                  <a:srgbClr val="CAD3E0"/>
                </a:solidFill>
                <a:latin typeface="Segoe UI"/>
              </a:rPr>
              <a:t> psycopg2 batch inserts, </a:t>
            </a:r>
            <a:r>
              <a:rPr sz="1800" b="0" err="1">
                <a:solidFill>
                  <a:srgbClr val="CAD3E0"/>
                </a:solidFill>
                <a:latin typeface="Segoe UI"/>
              </a:rPr>
              <a:t>RotatingFileHandler</a:t>
            </a:r>
            <a:endParaRPr sz="1800" b="0">
              <a:solidFill>
                <a:srgbClr val="CAD3E0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11274552" cy="1691640"/>
          </a:xfrm>
          <a:prstGeom prst="rect">
            <a:avLst/>
          </a:prstGeom>
          <a:solidFill>
            <a:srgbClr val="1A0A1E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7947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B703"/>
                </a:solidFill>
                <a:latin typeface="Segoe UI"/>
              </a:rPr>
              <a:t>What AI was NOT used for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343400"/>
            <a:ext cx="109728" cy="109728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224528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Architectural decisions </a:t>
            </a:r>
            <a:r>
              <a:rPr lang="tr-TR" sz="1800" b="0" err="1">
                <a:solidFill>
                  <a:srgbClr val="CAD3E0"/>
                </a:solidFill>
                <a:latin typeface="Segoe UI"/>
              </a:rPr>
              <a:t>and</a:t>
            </a:r>
            <a:r>
              <a:rPr sz="1800" b="0">
                <a:solidFill>
                  <a:srgbClr val="CAD3E0"/>
                </a:solidFill>
                <a:latin typeface="Segoe UI"/>
              </a:rPr>
              <a:t> tool selection rationale was our own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800600"/>
            <a:ext cx="109728" cy="109728"/>
          </a:xfrm>
          <a:prstGeom prst="ellipse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681728"/>
            <a:ext cx="10497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Report writing </a:t>
            </a:r>
            <a:r>
              <a:rPr lang="tr-TR" sz="1800" b="0" err="1">
                <a:solidFill>
                  <a:srgbClr val="CAD3E0"/>
                </a:solidFill>
                <a:latin typeface="Segoe UI"/>
              </a:rPr>
              <a:t>and</a:t>
            </a:r>
            <a:r>
              <a:rPr sz="1800" b="0">
                <a:solidFill>
                  <a:srgbClr val="CAD3E0"/>
                </a:solidFill>
                <a:latin typeface="Segoe UI"/>
              </a:rPr>
              <a:t> all analysis and evaluation text authored by the 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74552" cy="1024128"/>
          </a:xfrm>
          <a:prstGeom prst="rect">
            <a:avLst/>
          </a:prstGeom>
          <a:solidFill>
            <a:srgbClr val="0A1A0A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6D6A0"/>
                </a:solidFill>
                <a:latin typeface="Segoe UI"/>
              </a:rPr>
              <a:t>All AI-generated code was reviewed, tested, and debugged by the authors. No AI output appears in this presentation or the accompanying report without human verification. Tool used: Claude (Anthropic).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66160"/>
            <a:ext cx="11274552" cy="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E0EF"/>
                </a:solidFill>
                <a:latin typeface="Segoe UI"/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33087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3E0"/>
                </a:solidFill>
                <a:latin typeface="Segoe UI"/>
              </a:rPr>
              <a:t>github.com/yusuf-oguz/yzv322_final_project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0E0EF"/>
                </a:solidFill>
                <a:latin typeface="Segoe UI"/>
              </a:rPr>
              <a:t>Services on localhost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474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AD3E0"/>
                </a:solidFill>
                <a:latin typeface="Segoe UI"/>
              </a:rPr>
              <a:t>NiFi :8080  ·  Kibana :5601  ·  Airflow :8081  ·  pgAdmin :5050  ·  ES :9200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60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C05456CBC8EBA64F981FB6BFDB59E3DD" ma:contentTypeVersion="11" ma:contentTypeDescription="Yeni belge oluşturun." ma:contentTypeScope="" ma:versionID="8551338140a36457fdf05b9565673900">
  <xsd:schema xmlns:xsd="http://www.w3.org/2001/XMLSchema" xmlns:xs="http://www.w3.org/2001/XMLSchema" xmlns:p="http://schemas.microsoft.com/office/2006/metadata/properties" xmlns:ns3="be125e5a-e5be-40d4-bfc6-3789f71d651f" targetNamespace="http://schemas.microsoft.com/office/2006/metadata/properties" ma:root="true" ma:fieldsID="01bcb7ac4951a660d477e858dc0ce9ea" ns3:_="">
    <xsd:import namespace="be125e5a-e5be-40d4-bfc6-3789f71d65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125e5a-e5be-40d4-bfc6-3789f71d6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125e5a-e5be-40d4-bfc6-3789f71d651f" xsi:nil="true"/>
  </documentManagement>
</p:properties>
</file>

<file path=customXml/itemProps1.xml><?xml version="1.0" encoding="utf-8"?>
<ds:datastoreItem xmlns:ds="http://schemas.openxmlformats.org/officeDocument/2006/customXml" ds:itemID="{E02DA52A-4A57-4D48-8432-471B81F2458E}">
  <ds:schemaRefs>
    <ds:schemaRef ds:uri="be125e5a-e5be-40d4-bfc6-3789f71d65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3C083B-32FE-4208-8C45-4B27C13E3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3B8757-DB60-404A-B06D-3D291F3DF723}">
  <ds:schemaRefs>
    <ds:schemaRef ds:uri="be125e5a-e5be-40d4-bfc6-3789f71d65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Application>Microsoft Office PowerPoint</Application>
  <PresentationFormat>Özel</PresentationFormat>
  <Slides>12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3" baseType="lpstr">
      <vt:lpstr>Damask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Yusuf Oğuz</dc:creator>
  <cp:keywords/>
  <dc:description>generated using python-pptx</dc:description>
  <cp:revision>60</cp:revision>
  <dcterms:created xsi:type="dcterms:W3CDTF">2013-01-27T09:14:16Z</dcterms:created>
  <dcterms:modified xsi:type="dcterms:W3CDTF">2026-05-10T19:39:17Z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0x010100C05456CBC8EBA64F981FB6BFDB59E3DD</vt:lpwstr>
  </property>
</Properties>
</file>